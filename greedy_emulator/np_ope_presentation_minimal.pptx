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One-Pion Exchange in np→np Scattering (Born Approx.)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Your Name</a:t>
            </a:r>
          </a:p>
          <a:p>
            <a:pPr>
              <a:defRPr sz="2000"/>
            </a:pPr>
            <a:r>
              <a:t>Course</a:t>
            </a:r>
          </a:p>
          <a:p>
            <a:pPr>
              <a:defRPr sz="2000"/>
            </a:pPr>
            <a:r>
              <a:t>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NN interaction at low energies dominated by pion exchange</a:t>
            </a:r>
          </a:p>
          <a:p>
            <a:pPr>
              <a:defRPr sz="2200"/>
            </a:pPr>
            <a:r>
              <a:t>Chiral EFT provides a systematic Lagrangian framework</a:t>
            </a:r>
          </a:p>
          <a:p>
            <a:pPr>
              <a:defRPr sz="2200"/>
            </a:pPr>
            <a:r>
              <a:t>Goal: derive OPE amplitude and link to observables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 use schematic OPE at tree level (Born approximation).</a:t>
            </a:r>
          </a:p>
          <a:p>
            <a:pPr>
              <a:defRPr sz="2000"/>
            </a:pPr>
            <a:r>
              <a:t>Equations shown on subsequent slides are formatted as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Leading-order chiral Lagrangian (nucleon–pion)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Keep only terms relevant to πNN coupling at LO</a:t>
            </a:r>
          </a:p>
          <a:p>
            <a:pPr>
              <a:defRPr sz="2200"/>
            </a:pPr>
            <a:r>
              <a:t>Heavy-baryon reduction can be used later if desired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𝓛_{πN}^{(1)} = Ψ̄ ( i γ^μ D_μ − m + (g_A/2) γ^μ γ_5 u_μ ) 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Expanded interaction terms (isospin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Neutral and charged pion couplings</a:t>
            </a:r>
          </a:p>
          <a:p>
            <a:pPr>
              <a:defRPr sz="2200"/>
            </a:pPr>
            <a:r>
              <a:t>Signs from isospin algebra and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− (g_A / 2 F_π) · p̄ γ^μ γ_5 (∂_μ π^0) p</a:t>
            </a:r>
          </a:p>
          <a:p>
            <a:pPr>
              <a:defRPr sz="2000"/>
            </a:pPr>
            <a:r>
              <a:t>+ (g_A / 2 F_π) · n̄ γ^μ γ_5 (∂_μ π^0) n</a:t>
            </a:r>
          </a:p>
          <a:p>
            <a:pPr>
              <a:defRPr sz="2000"/>
            </a:pPr>
            <a:r>
              <a:t>− (g_A / √2 F_π) · p̄ γ^μ γ_5 (∂_μ π^+) n</a:t>
            </a:r>
          </a:p>
          <a:p>
            <a:pPr>
              <a:defRPr sz="2000"/>
            </a:pPr>
            <a:r>
              <a:t>− (g_A / √2 F_π) · n̄ γ^μ γ_5 (∂_μ π^−)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Feynman rules (schematic)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Tree-level OPE in the Born approximation</a:t>
            </a:r>
          </a:p>
          <a:p>
            <a:pPr>
              <a:defRPr sz="2200"/>
            </a:pPr>
            <a:r>
              <a:t>Here shown in a pseudoscalar coupling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Vertex:   −i g_{πNN} γ_5 τ^a</a:t>
            </a:r>
          </a:p>
          <a:p>
            <a:pPr>
              <a:defRPr sz="2000"/>
            </a:pPr>
            <a:r>
              <a:t>Propagator:   i / (q^2 − M_π^2)</a:t>
            </a:r>
          </a:p>
          <a:p>
            <a:pPr>
              <a:defRPr sz="2000"/>
            </a:pPr>
            <a:r>
              <a:t>Spin sum:   Σ_s u^(s) ū^(s) = γ^μ p_μ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Scattering amplitude (t + u channels)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t-channel (π^0) + u-channel (π^±) exchange</a:t>
            </a:r>
          </a:p>
          <a:p>
            <a:pPr>
              <a:defRPr sz="2200"/>
            </a:pPr>
            <a:r>
              <a:t>Overall signs and isospin factors per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i𝓜 = − i g_{πNN}^2 / (t − M_{π^0}^2) · [ū_n γ_5 u_n][ū_p γ_5 u_p]</a:t>
            </a:r>
            <a:br/>
            <a:r>
              <a:t>       + i g_{πNN}^2 / (u − M_{π^±}^2) · [ū_p γ_5 u_n][ū_n γ_5 u_p]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Spin-averaged |M|^2 (sketch of algebra)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Compute traces and average over initial spins (1/4)</a:t>
            </a:r>
          </a:p>
          <a:p>
            <a:pPr>
              <a:defRPr sz="2200"/>
            </a:pPr>
            <a:r>
              <a:t>Use T_{ij} and interference term 𝓘 to compactify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⟨|𝓜|^2⟩ = (1/4) g_{πNN}^4 [ T_{31}T_{42}/(t−M_{π^0}^2)^2 + T_{41}T_{32}/(u−M_{π^±}^2)^2</a:t>
            </a:r>
            <a:br/>
            <a:r>
              <a:t>                              − 2𝓘 / ((t−M_{π^0}^2)(u−M_{π^±}^2)) ]</a:t>
            </a:r>
          </a:p>
          <a:p>
            <a:pPr>
              <a:defRPr sz="2000"/>
            </a:pPr>
            <a:r>
              <a:t>T_{31}=T_{42}=2t,   T_{41}=T_{32}=2u,   𝓘 = −2 t u</a:t>
            </a:r>
          </a:p>
          <a:p>
            <a:pPr>
              <a:defRPr sz="2000"/>
            </a:pPr>
            <a:r>
              <a:t>⇒ ⟨|𝓜|^2⟩ = g_{πNN}^4 [ t^2/(t−M_{π^0}^2)^2 + u^2/(u−M_{π^±}^2)^2 + tu/((t−M_{π^0}^2)(u−M_{π^±}^2))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cross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Two-body kinematics in CM frame</a:t>
            </a:r>
          </a:p>
          <a:p>
            <a:pPr>
              <a:defRPr sz="2200"/>
            </a:pPr>
            <a:r>
              <a:t>Express Mandelstam variables via p and θ (CM)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dσ/dΩ = (1 / 64π^2 s) ⟨|𝓜|^2⟩,    t = −4 p^2 sin^2(θ/2),    u = −4 p^2 cos^2(θ/2)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 captures leading spin–isospin structure at low energies</a:t>
            </a:r>
          </a:p>
          <a:p>
            <a:pPr>
              <a:defRPr sz="2200"/>
            </a:pPr>
            <a:r>
              <a:t>Both t and u channels matter for np → np</a:t>
            </a:r>
          </a:p>
          <a:p>
            <a:pPr>
              <a:defRPr sz="2200"/>
            </a:pPr>
            <a:r>
              <a:t>Extensions: contacts + higher-order chiral 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You can later swap these text equations for rendered PNGs and plots.</a:t>
            </a:r>
          </a:p>
          <a:p>
            <a:pPr>
              <a:defRPr sz="2000"/>
            </a:pPr>
            <a:r>
              <a:t>This minimal deck is to confirm layout and fonts work on your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